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7C4DFF"/>
                </a:solidFill>
                <a:latin typeface="Calibri"/>
              </a:defRPr>
            </a:pPr>
            <a:r>
              <a:t>NOVA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388FF"/>
                </a:solidFill>
                <a:latin typeface="Calibri"/>
              </a:defRPr>
            </a:pPr>
            <a:r>
              <a:t>Local-First AI Agent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A0"/>
                </a:solidFill>
                <a:latin typeface="Calibri"/>
              </a:defRPr>
            </a:pPr>
            <a:r>
              <a:t>Personal AI, On Personal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  <a:latin typeface="Calibri"/>
              </a:defRPr>
            </a:pPr>
            <a:r>
              <a:t>GitHub: Hamza35779/NOVA-AI  |  Docs: hamza35779.github.io/NOVA-AI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4DFF"/>
                </a:solidFill>
                <a:latin typeface="Calibri"/>
              </a:defRPr>
            </a:pPr>
            <a:r>
              <a:t>The Problem: Cloud-Dependent "Personal" AI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2976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NOVA AI Solution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Privacy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 data leaves your device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Local inference by default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$0.01-$0.10+ per query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Local = $0.00, smart routing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200-2000ms network round-trips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On-device inference, no network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Availability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offline; outages = no AI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Works completely offline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Sovereignty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control over data/models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Full user control, open source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Local models already handle most tasks. What's missing is the software stack to make local-first AI practical.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4DFF"/>
                </a:solidFill>
                <a:latin typeface="Calibri"/>
              </a:defRPr>
            </a:pPr>
            <a:r>
              <a:t>Architecture: Five Core Primitives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64008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>
                <a:solidFill>
                  <a:srgbClr val="B388FF"/>
                </a:solidFill>
                <a:latin typeface="Consolas"/>
              </a:defRPr>
            </a:pPr>
            <a:r>
              <a:t>+----------------------------------------------------+</a:t>
            </a:r>
            <a:br/>
            <a:r>
              <a:t>|                   LEARNING                          |</a:t>
            </a:r>
            <a:br/>
            <a:r>
              <a:t>|        (Trace-driven routing &amp; rewards)             |</a:t>
            </a:r>
            <a:br/>
            <a:r>
              <a:t>+----------+----------+----------+-------------------+</a:t>
            </a:r>
            <a:br/>
            <a:r>
              <a:t>|INTELLIGENCE|  ENGINE  | AGENTS  |      MEMORY        |</a:t>
            </a:r>
            <a:br/>
            <a:r>
              <a:t>| Model     | Inference| Pluggable|  Persistent        |</a:t>
            </a:r>
            <a:br/>
            <a:r>
              <a:t>| Catalog   | Backends | Agents   |  Searchable Storage |</a:t>
            </a:r>
            <a:br/>
            <a:r>
              <a:t>+----------+----------+----------+-------------------+</a:t>
            </a:r>
            <a:br/>
            <a:r>
              <a:t>         |              |              |</a:t>
            </a:r>
            <a:br/>
            <a:r>
              <a:t>         +--------------+--------------+</a:t>
            </a:r>
            <a:br/>
            <a:r>
              <a:t>                        |</a:t>
            </a:r>
            <a:br/>
            <a:r>
              <a:t>                   [EventBus]</a:t>
            </a:r>
            <a:br/>
            <a:r>
              <a:t>              (Trace Collection)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2801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Intelligence - Model catalog with runtime discovery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Engine - Inference backends (Ollama, vLLM, Cloud)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Agents - 8+ pluggable agent types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Memory - 5 searchable storage backends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Learning - Trace-driven feedback loop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EventBus - Thread-safe pub/sub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Feedback loop: agents produce traces -&gt; traces inform learning -&gt; learning improves routing -&gt; better routing improves agent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4DFF"/>
                </a:solidFill>
                <a:latin typeface="Calibri"/>
              </a:defRPr>
            </a:pPr>
            <a:r>
              <a:t>Engine Layer: Pluggable Inference Runtime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1645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B388FF"/>
                </a:solidFill>
                <a:latin typeface="Consolas"/>
              </a:defRPr>
            </a:pPr>
            <a:r>
              <a:t>class InferenceEngine(ABC):</a:t>
            </a:r>
            <a:br/>
            <a:r>
              <a:t>    def generate(messages, model) -&gt; dict</a:t>
            </a:r>
            <a:br/>
            <a:r>
              <a:t>    def stream(messages, model) -&gt; Iterator[str]</a:t>
            </a:r>
            <a:br/>
            <a:r>
              <a:t>    def list_models() -&gt; list[str]</a:t>
            </a:r>
            <a:br/>
            <a:r>
              <a:t>    def health() -&gt; bool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20040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743200"/>
                <a:gridCol w="47548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Local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Native HTTP API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Default local engine, broad model support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vLLM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Local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OpenAI-compat API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High-throughput, PagedAttention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SGLang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Local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OpenAI-compat API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Structured generation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llama.cpp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Local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OpenAI-compat API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GGUF quantized, CPU/GPU hybrid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Provider SDKs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OpenAI, Anthropic, Google, DeepSeek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Smart Router: model="auto" scores complexity -&gt; simple = local, complex = cloud. Cost tracking: local = $0.00, cloud = per-query USD.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4DFF"/>
                </a:solidFill>
                <a:latin typeface="Calibri"/>
              </a:defRPr>
            </a:pPr>
            <a:r>
              <a:t>Agent Framework: 8+ Agent Types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926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>
                <a:solidFill>
                  <a:srgbClr val="B388FF"/>
                </a:solidFill>
                <a:latin typeface="Consolas"/>
              </a:defRPr>
            </a:pPr>
            <a:r>
              <a:t>BaseAgent (ABC)</a:t>
            </a:r>
            <a:br/>
            <a:r>
              <a:t>  +-- SimpleAgent          (single-turn)</a:t>
            </a:r>
            <a:br/>
            <a:r>
              <a:t>  +-- OpenHandsAgent       (openhands-sdk)</a:t>
            </a:r>
            <a:br/>
            <a:r>
              <a:t>  +-- ClaudeCodeAgent      (Claude SDK)</a:t>
            </a:r>
            <a:br/>
            <a:r>
              <a:t>  +-- SandboxedAgent       (Docker isolation)</a:t>
            </a:r>
            <a:br/>
            <a:r>
              <a:t>  +-- ToolUsingAgent       (accepts tools)</a:t>
            </a:r>
            <a:br/>
            <a:r>
              <a:t>        +-- OrchestratorAgent  (tool loop)</a:t>
            </a:r>
            <a:br/>
            <a:r>
              <a:t>        +-- NativeReActAgent   (ReAct)</a:t>
            </a:r>
            <a:br/>
            <a:r>
              <a:t>        +-- NativeOpenHandsAgent (CodeAct)</a:t>
            </a:r>
            <a:br/>
            <a:r>
              <a:t>        +-- RLMAgent           (recursive LM)</a:t>
            </a:r>
            <a:br/>
            <a:r>
              <a:t>        +-- OperativeAgent     (persistent)</a:t>
            </a:r>
            <a:br/>
            <a:r>
              <a:t>        +-- MonitorOperative   (long-horizon)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188720"/>
          <a:ext cx="6126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21945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simple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On-demand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Single-turn Q&amp;A, no tools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orchestrator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On-demand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Multi-turn tool-calling loop (default)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native_react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On-demand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Thought-Action-Observation loop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self_healing_react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On-demand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ReAct + bounded self-repair loop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native_openhands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On-demand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CodeAct - writes and executes Python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deep_research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On-demand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Multi-hop research with citations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operative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Persistent agent with state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monitor_operative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Long-horizon monitoring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proactive_agent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Scheduled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Autonomous routine tasks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OrchestratorAgent (default): function_calling mode (OpenAI format) or structured mode (THOUGHT/TOOL/INPUT/FINAL_ANSWER) used by SFT/GRPO training pipelines.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4DFF"/>
                </a:solidFill>
                <a:latin typeface="Calibri"/>
              </a:defRPr>
            </a:pPr>
            <a:r>
              <a:t>Tool System: 58+ Built-in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>
                <a:solidFill>
                  <a:srgbClr val="B388FF"/>
                </a:solidFill>
                <a:latin typeface="Consolas"/>
              </a:defRPr>
            </a:pPr>
            <a:r>
              <a:t>class BaseTool(ABC):</a:t>
            </a:r>
            <a:br/>
            <a:r>
              <a:t>    tool_id: str</a:t>
            </a:r>
            <a:br/>
            <a:r>
              <a:t>    def spec(self) -&gt; ToolSpec</a:t>
            </a:r>
            <a:br/>
            <a:r>
              <a:t>    def execute(**params) -&gt; ToolResult</a:t>
            </a:r>
            <a:br/>
            <a:r>
              <a:t>    def to_openai_function() -&gt; Dict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7432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8696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Tools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Web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web_search, browser_navigate, browser_click, browser_extract, http_request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code_interpreter, code_interpreter_docker, shell_exec, repl, code_scaffolder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Files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file_read, file_write, apply_patch, git_tool, git_manager, file_converter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Knowledge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knowledge_search, retrieval, scan_chunks, memory_manage, memory_wiki_tools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image_tool, audio_tool, text_to_speech, screen_capture, screen_monitor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system_monitor, scheduler_tool, canvas_tool, clipboard_ai, api_tester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mcp_adapter, docker_shell_exec, cisco_packet_tracer, channel_tools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4DFF"/>
                </a:solidFill>
                <a:latin typeface="Calibri"/>
              </a:defRPr>
            </a:pPr>
            <a:r>
              <a:t>Memory: 5 Searchable Storage Backends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2527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2743200"/>
                <a:gridCol w="42976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Dependencies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SQLite/FTS5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Full-text search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Quick start, zero config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None (built-in)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FAISS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Dense vectors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Semantic search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sentence-transformers, faiss-cpu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ColBERTv2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Late interaction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High-precision retrieval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colbert-ai, torch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BM25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Term-frequency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Keyword search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rank-bm25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Reciprocal Rank Fusion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Best of sparse + dense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FAISS + BM25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Ingestion Pipeline:</a:t>
            </a:r>
            <a:br/>
            <a:r>
              <a:t>  File reading -&gt; Chunking (ChunkConfig) -&gt; Embedding (SentenceTransformerEmbedder) -&gt; Storage</a:t>
            </a:r>
            <a:br/>
            <a:br/>
            <a:r>
              <a:t>Context Injection:</a:t>
            </a:r>
            <a:br/>
            <a:r>
              <a:t>  When agent.context_from_memory is enabled, relevant documents are retrieved and prepended to the prompt with source attribution (file path, chunk index).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4DFF"/>
                </a:solidFill>
                <a:latin typeface="Calibri"/>
              </a:defRPr>
            </a:pPr>
            <a:r>
              <a:t>Learning: Trace-Driven Feedback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64008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B388FF"/>
                </a:solidFill>
                <a:latin typeface="Consolas"/>
              </a:defRPr>
            </a:pPr>
            <a:r>
              <a:t>Agent runs query</a:t>
            </a:r>
            <a:br/>
            <a:r>
              <a:t>    -&gt; Produces Trace (steps, tools, timing, cost)</a:t>
            </a:r>
            <a:br/>
            <a:r>
              <a:t>        -&gt; TraceAnalyzer computes statistics</a:t>
            </a:r>
            <a:br/>
            <a:r>
              <a:t>            -&gt; TraceDrivenPolicy learns optimal combinations</a:t>
            </a:r>
            <a:br/>
            <a:r>
              <a:t>                -&gt; Better routing for future queries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0" y="1188720"/>
          <a:ext cx="3840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TraceStore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SQLite trace persistence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TraceAnalyzer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Aggregated statistics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HeuristicRouter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Complexity scoring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TraceDrivenPolicy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Learned routing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SkillForge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Skill synthesis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Training Pipelines:</a:t>
            </a:r>
            <a:br/>
            <a:br/>
            <a:r>
              <a:t>  SFT (Supervised Fine-Tuning) - trains on trace data</a:t>
            </a:r>
            <a:br/>
            <a:r>
              <a:t>  GRPO (Group Relative Policy Optimization) - RL-based training</a:t>
            </a:r>
            <a:br/>
            <a:r>
              <a:t>  DPO (Direct Preference Optimization) - preference-based training</a:t>
            </a:r>
            <a:br/>
            <a:r>
              <a:t>  LoRA (Low-Rank Adaptation) - efficient fine-tuning</a:t>
            </a:r>
            <a:br/>
            <a:br/>
            <a:r>
              <a:t>SkillForge Pipeline:</a:t>
            </a:r>
            <a:br/>
            <a:br/>
            <a:r>
              <a:t>  Miner -&gt; Synthesizer -&gt; Pipeline -&gt; Gauntlet -&gt; Store -&gt; Adoption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4DFF"/>
                </a:solidFill>
                <a:latin typeface="Calibri"/>
              </a:defRPr>
            </a:pPr>
            <a:r>
              <a:t>Security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56692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Loop Guard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SHA-256 hash tracking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Detects degenerate tool-calling loops, ping-pong, per-tool budgets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RBAC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Capability policy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Tools declare required_capabilities; agents need matching permissions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Secret Scanner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Pattern matching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Detects hardcoded API keys and secrets in code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PII Scanner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Pattern matching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Detects personally identifiable information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Boundary Guard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Argument scanning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Scans external tool arguments for security threats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SSRF Protection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URL validation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Web tools check for server-side request forgery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Taint Checking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Provenance tracking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Tracks data provenance through tool pipelines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Redaction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PII/secret scrubbing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Scrubs secrets/PII before cloud transmission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Cost/token limits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Per-agent limits with automatic pause on exceed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Circuit Breaker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Failure counting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Auto-pauses operator after consecutive failures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4DFF"/>
                </a:solidFill>
                <a:latin typeface="Calibri"/>
              </a:defRPr>
            </a:pPr>
            <a:r>
              <a:t>Deployment Options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47548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Requirements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Windows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Inno Setup installer (.exe)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None - self-contained, no uv/git/Python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Linux/macOS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Install script (curl | bash)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Python 3.10-3.13, uv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docker-compose.yml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Docker + optional NVIDIA GPU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Desktop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Tauri app (.exe/.dmg/.AppImage)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uv (auto-installed on first launch)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PyPI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pip install nova-ai-pro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Python 3.10-3.13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From Source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git clone + uv sync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Python 3.10-3.13, uv, git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Desktop Highlights:</a:t>
            </a:r>
            <a:br/>
            <a:br/>
            <a:r>
              <a:t>  Quick Capture popup: Alt+Space global hotkey (Cmd+Shift+Space on macOS)</a:t>
            </a:r>
            <a:br/>
            <a:r>
              <a:t>  nova dev-watch: self-healing build/test diagnostics with a Dashboard feed</a:t>
            </a:r>
            <a:br/>
            <a:r>
              <a:t>  Morning digest: desktop notification on delivery + Windows audio playback</a:t>
            </a:r>
            <a:br/>
            <a:br/>
            <a:r>
              <a:t>Channel Integrations (15+):</a:t>
            </a:r>
            <a:br/>
            <a:br/>
            <a:r>
              <a:t>Telegram, Discord, Slack, WhatsApp, Line, Viber, Messenger, Reddit, Mastodon, XMPP, Rocket.Chat, Zulip, Twitter/X, Twitch, Nostr, Twilio, Gmail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4DFF"/>
                </a:solidFill>
                <a:latin typeface="Calibri"/>
              </a:defRPr>
            </a:pPr>
            <a:r>
              <a:t>Performance &amp; Cost Tracking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7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77639"/>
                <a:gridCol w="3977639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Local Inference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Inference</a:t>
                      </a:r>
                    </a:p>
                  </a:txBody>
                  <a:tcPr>
                    <a:solidFill>
                      <a:srgbClr val="7C4D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Cost per query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$0.01 - $0.10+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50-500ms (on-device)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200-2000ms (network)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Availability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Always available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Requires internet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Privacy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Data stays on device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Data sent to provider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Hardware dependent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Provider rate limits</a:t>
                      </a:r>
                    </a:p>
                  </a:txBody>
                  <a:tcPr>
                    <a:solidFill>
                      <a:srgbClr val="1410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Energy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Tracked via pynvml/amdsmi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Benchmark Framework:</a:t>
            </a:r>
            <a:br/>
            <a:br/>
            <a:r>
              <a:t>  LatencyBenchmark: per-call latency measurement</a:t>
            </a:r>
            <a:br/>
            <a:r>
              <a:t>  ThroughputBenchmark: tokens/second measurement</a:t>
            </a:r>
            <a:br/>
            <a:r>
              <a:t>  Energy Monitoring: GPU power consumption via pynvml (NVIDIA), amdsmi (AMD), zeus-ml (Apple)</a:t>
            </a:r>
            <a:br/>
            <a:r>
              <a:t>  Cost Tracking: per-query USD via OpenRouter or pricing table estimate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4D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388FF"/>
                </a:solidFill>
                <a:latin typeface="Calibri"/>
              </a:defRPr>
            </a:pPr>
            <a:r>
              <a:t>Current (v1.2.5)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Five-primitive architecture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9 agent types (incl. self-healing)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58+ built-in tools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5 memory backends (batched ingest)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Smart router + runtime cloud failover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MCP integration + opencode wiring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Lazy CLI (startup 3.3s to 0.35s)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Desktop app (Tauri)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Quick Capture popup (Alt+Space)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dev-watch self-healing diagnostics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Digest desktop notifications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Windows/Linux/macOS installers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15+ channel integrations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Trace-driven learning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Skill synthesis (SkillForge)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SFT/GRPO/DPO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0FB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Enhanced hybrid local+cloud paradigms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Improved skill validation &amp; adoption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Additional channel integrations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Mobile companion app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Enterprise deployment features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Advanced energy monitoring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Orchestrator-8B trained variant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SkillOrchestra learn-phase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Advisor RL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4DFF"/>
                </a:solidFill>
                <a:latin typeface="Calibri"/>
              </a:defRPr>
            </a:pPr>
            <a:r>
              <a:t>Get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388FF"/>
                </a:solidFill>
                <a:latin typeface="Calibri"/>
              </a:defRPr>
            </a:pPr>
            <a:r>
              <a:t>Personal AI, On Personal Devices.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3840480"/>
            <a:ext cx="758952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B388FF"/>
                </a:solidFill>
                <a:latin typeface="Consolas"/>
              </a:defRPr>
            </a:pPr>
            <a:r>
              <a:t># Install (Linux/macOS)</a:t>
            </a:r>
            <a:br/>
            <a:r>
              <a:t>curl -fsSL https://hamza35779.github.io/NOVA-AI/install.sh | bash</a:t>
            </a:r>
            <a:br/>
            <a:br/>
            <a:r>
              <a:t># Install (Windows)</a:t>
            </a:r>
            <a:br/>
            <a:r>
              <a:t>irm https://hamza35779.github.io/NOVA-AI/install.ps1 | iex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  <a:latin typeface="Calibri"/>
              </a:defRPr>
            </a:pPr>
            <a:r>
              <a:t>GitHub: Hamza35779/NOVA-AI  |  Docs: hamza35779.github.io/NOVA-AI  |  License: Apache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